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40" autoAdjust="0"/>
  </p:normalViewPr>
  <p:slideViewPr>
    <p:cSldViewPr>
      <p:cViewPr varScale="1">
        <p:scale>
          <a:sx n="85" d="100"/>
          <a:sy n="85" d="100"/>
        </p:scale>
        <p:origin x="115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001E4-4626-4391-9ADB-044969C83B86}" type="datetimeFigureOut">
              <a:rPr lang="ko-KR" altLang="en-US" smtClean="0"/>
              <a:pPr/>
              <a:t>2025-03-11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001E4-4626-4391-9ADB-044969C83B86}" type="datetimeFigureOut">
              <a:rPr lang="ko-KR" altLang="en-US" smtClean="0"/>
              <a:pPr/>
              <a:t>2025-03-11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E0997-D2CE-4C75-B7DD-6AAC29C1AD5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ISIS. Multi-Area</a:t>
            </a:r>
            <a:endParaRPr lang="ko-KR" altLang="en-US" dirty="0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428625" y="3371850"/>
            <a:ext cx="892175" cy="628650"/>
            <a:chOff x="1428750" y="4286250"/>
            <a:chExt cx="892175" cy="628650"/>
          </a:xfrm>
        </p:grpSpPr>
        <p:pic>
          <p:nvPicPr>
            <p:cNvPr id="310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1965325" y="3357563"/>
            <a:ext cx="892175" cy="628650"/>
            <a:chOff x="1428750" y="4286250"/>
            <a:chExt cx="892175" cy="628650"/>
          </a:xfrm>
        </p:grpSpPr>
        <p:pic>
          <p:nvPicPr>
            <p:cNvPr id="309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4" name="그룹 6"/>
          <p:cNvGrpSpPr>
            <a:grpSpLocks/>
          </p:cNvGrpSpPr>
          <p:nvPr/>
        </p:nvGrpSpPr>
        <p:grpSpPr bwMode="auto">
          <a:xfrm>
            <a:off x="3465513" y="3357563"/>
            <a:ext cx="892175" cy="628650"/>
            <a:chOff x="1428750" y="4286250"/>
            <a:chExt cx="892175" cy="628650"/>
          </a:xfrm>
        </p:grpSpPr>
        <p:pic>
          <p:nvPicPr>
            <p:cNvPr id="3097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8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R3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5" name="그룹 6"/>
          <p:cNvGrpSpPr>
            <a:grpSpLocks/>
          </p:cNvGrpSpPr>
          <p:nvPr/>
        </p:nvGrpSpPr>
        <p:grpSpPr bwMode="auto">
          <a:xfrm>
            <a:off x="4929188" y="3371850"/>
            <a:ext cx="892175" cy="628650"/>
            <a:chOff x="1428750" y="4286250"/>
            <a:chExt cx="892175" cy="628650"/>
          </a:xfrm>
        </p:grpSpPr>
        <p:pic>
          <p:nvPicPr>
            <p:cNvPr id="3095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6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R4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" name="그룹 6"/>
          <p:cNvGrpSpPr>
            <a:grpSpLocks/>
          </p:cNvGrpSpPr>
          <p:nvPr/>
        </p:nvGrpSpPr>
        <p:grpSpPr bwMode="auto">
          <a:xfrm>
            <a:off x="6465888" y="3357563"/>
            <a:ext cx="892175" cy="628650"/>
            <a:chOff x="1428750" y="4286250"/>
            <a:chExt cx="892175" cy="628650"/>
          </a:xfrm>
        </p:grpSpPr>
        <p:pic>
          <p:nvPicPr>
            <p:cNvPr id="3093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4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5880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 dirty="0">
                  <a:latin typeface="맑은 고딕" pitchFamily="50" charset="-127"/>
                  <a:ea typeface="맑은 고딕" pitchFamily="50" charset="-127"/>
                </a:rPr>
                <a:t>R5</a:t>
              </a:r>
              <a:endParaRPr kumimoji="0" lang="ko-KR" altLang="en-US" sz="14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" name="그룹 6"/>
          <p:cNvGrpSpPr>
            <a:grpSpLocks/>
          </p:cNvGrpSpPr>
          <p:nvPr/>
        </p:nvGrpSpPr>
        <p:grpSpPr bwMode="auto">
          <a:xfrm>
            <a:off x="7966075" y="3357563"/>
            <a:ext cx="892175" cy="628650"/>
            <a:chOff x="1428750" y="4286250"/>
            <a:chExt cx="892175" cy="628650"/>
          </a:xfrm>
        </p:grpSpPr>
        <p:pic>
          <p:nvPicPr>
            <p:cNvPr id="309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9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R6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41" name="직선 연결선 40"/>
          <p:cNvCxnSpPr/>
          <p:nvPr/>
        </p:nvCxnSpPr>
        <p:spPr>
          <a:xfrm flipV="1">
            <a:off x="1320800" y="3671888"/>
            <a:ext cx="644525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/>
          <p:cNvCxnSpPr/>
          <p:nvPr/>
        </p:nvCxnSpPr>
        <p:spPr>
          <a:xfrm>
            <a:off x="2857500" y="3671888"/>
            <a:ext cx="608013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>
            <a:off x="4357688" y="3671888"/>
            <a:ext cx="571500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V="1">
            <a:off x="5821363" y="3671888"/>
            <a:ext cx="644525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7358063" y="3671888"/>
            <a:ext cx="608012" cy="15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6" name="TextBox 182"/>
          <p:cNvSpPr txBox="1">
            <a:spLocks noChangeArrowheads="1"/>
          </p:cNvSpPr>
          <p:nvPr/>
        </p:nvSpPr>
        <p:spPr bwMode="auto">
          <a:xfrm>
            <a:off x="1324017" y="2852936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12.0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7" name="TextBox 182"/>
          <p:cNvSpPr txBox="1">
            <a:spLocks noChangeArrowheads="1"/>
          </p:cNvSpPr>
          <p:nvPr/>
        </p:nvSpPr>
        <p:spPr bwMode="auto">
          <a:xfrm>
            <a:off x="2896110" y="3967163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23.0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8" name="TextBox 182"/>
          <p:cNvSpPr txBox="1">
            <a:spLocks noChangeArrowheads="1"/>
          </p:cNvSpPr>
          <p:nvPr/>
        </p:nvSpPr>
        <p:spPr bwMode="auto">
          <a:xfrm>
            <a:off x="4351880" y="2967038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F0/1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34.0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89" name="TextBox 182"/>
          <p:cNvSpPr txBox="1">
            <a:spLocks noChangeArrowheads="1"/>
          </p:cNvSpPr>
          <p:nvPr/>
        </p:nvSpPr>
        <p:spPr bwMode="auto">
          <a:xfrm>
            <a:off x="5944111" y="3967163"/>
            <a:ext cx="51809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S0/0</a:t>
            </a:r>
          </a:p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45.0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90" name="TextBox 182"/>
          <p:cNvSpPr txBox="1">
            <a:spLocks noChangeArrowheads="1"/>
          </p:cNvSpPr>
          <p:nvPr/>
        </p:nvSpPr>
        <p:spPr bwMode="auto">
          <a:xfrm>
            <a:off x="7383518" y="2924944"/>
            <a:ext cx="5116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56.0</a:t>
            </a:r>
            <a:endParaRPr kumimoji="0"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7" name="그룹 104"/>
          <p:cNvGrpSpPr>
            <a:grpSpLocks/>
          </p:cNvGrpSpPr>
          <p:nvPr/>
        </p:nvGrpSpPr>
        <p:grpSpPr bwMode="auto">
          <a:xfrm>
            <a:off x="685850" y="3933056"/>
            <a:ext cx="285750" cy="358775"/>
            <a:chOff x="1714481" y="3857627"/>
            <a:chExt cx="285750" cy="358775"/>
          </a:xfrm>
        </p:grpSpPr>
        <p:cxnSp>
          <p:nvCxnSpPr>
            <p:cNvPr id="38" name="직선 연결선 37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그룹 104"/>
          <p:cNvGrpSpPr>
            <a:grpSpLocks/>
          </p:cNvGrpSpPr>
          <p:nvPr/>
        </p:nvGrpSpPr>
        <p:grpSpPr bwMode="auto">
          <a:xfrm>
            <a:off x="2270026" y="3933056"/>
            <a:ext cx="285750" cy="358775"/>
            <a:chOff x="1714481" y="3857627"/>
            <a:chExt cx="285750" cy="358775"/>
          </a:xfrm>
        </p:grpSpPr>
        <p:cxnSp>
          <p:nvCxnSpPr>
            <p:cNvPr id="42" name="직선 연결선 41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연결선 43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그룹 104"/>
          <p:cNvGrpSpPr>
            <a:grpSpLocks/>
          </p:cNvGrpSpPr>
          <p:nvPr/>
        </p:nvGrpSpPr>
        <p:grpSpPr bwMode="auto">
          <a:xfrm>
            <a:off x="3779912" y="3934321"/>
            <a:ext cx="285750" cy="358775"/>
            <a:chOff x="1714481" y="3857627"/>
            <a:chExt cx="285750" cy="358775"/>
          </a:xfrm>
        </p:grpSpPr>
        <p:cxnSp>
          <p:nvCxnSpPr>
            <p:cNvPr id="48" name="직선 연결선 47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그룹 104"/>
          <p:cNvGrpSpPr>
            <a:grpSpLocks/>
          </p:cNvGrpSpPr>
          <p:nvPr/>
        </p:nvGrpSpPr>
        <p:grpSpPr bwMode="auto">
          <a:xfrm>
            <a:off x="5222354" y="3934321"/>
            <a:ext cx="285750" cy="358775"/>
            <a:chOff x="1714481" y="3857627"/>
            <a:chExt cx="285750" cy="358775"/>
          </a:xfrm>
        </p:grpSpPr>
        <p:cxnSp>
          <p:nvCxnSpPr>
            <p:cNvPr id="52" name="직선 연결선 51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직선 연결선 52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그룹 104"/>
          <p:cNvGrpSpPr>
            <a:grpSpLocks/>
          </p:cNvGrpSpPr>
          <p:nvPr/>
        </p:nvGrpSpPr>
        <p:grpSpPr bwMode="auto">
          <a:xfrm>
            <a:off x="6732240" y="3934321"/>
            <a:ext cx="285750" cy="358775"/>
            <a:chOff x="1714481" y="3857627"/>
            <a:chExt cx="285750" cy="358775"/>
          </a:xfrm>
        </p:grpSpPr>
        <p:cxnSp>
          <p:nvCxnSpPr>
            <p:cNvPr id="57" name="직선 연결선 56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그룹 104"/>
          <p:cNvGrpSpPr>
            <a:grpSpLocks/>
          </p:cNvGrpSpPr>
          <p:nvPr/>
        </p:nvGrpSpPr>
        <p:grpSpPr bwMode="auto">
          <a:xfrm>
            <a:off x="8246690" y="3933056"/>
            <a:ext cx="285750" cy="358775"/>
            <a:chOff x="1714481" y="3857627"/>
            <a:chExt cx="285750" cy="358775"/>
          </a:xfrm>
        </p:grpSpPr>
        <p:cxnSp>
          <p:nvCxnSpPr>
            <p:cNvPr id="60" name="직선 연결선 59"/>
            <p:cNvCxnSpPr/>
            <p:nvPr/>
          </p:nvCxnSpPr>
          <p:spPr>
            <a:xfrm rot="5400000">
              <a:off x="1679556" y="4035427"/>
              <a:ext cx="35718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/>
            <p:cNvCxnSpPr/>
            <p:nvPr/>
          </p:nvCxnSpPr>
          <p:spPr>
            <a:xfrm>
              <a:off x="1714481" y="4214814"/>
              <a:ext cx="28575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타원 62"/>
          <p:cNvSpPr/>
          <p:nvPr/>
        </p:nvSpPr>
        <p:spPr bwMode="auto">
          <a:xfrm>
            <a:off x="251520" y="1412776"/>
            <a:ext cx="4248472" cy="3941862"/>
          </a:xfrm>
          <a:prstGeom prst="ellipse">
            <a:avLst/>
          </a:prstGeom>
          <a:noFill/>
          <a:ln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70" name="TextBox 190"/>
          <p:cNvSpPr txBox="1">
            <a:spLocks noChangeArrowheads="1"/>
          </p:cNvSpPr>
          <p:nvPr/>
        </p:nvSpPr>
        <p:spPr bwMode="auto">
          <a:xfrm>
            <a:off x="1410353" y="1772816"/>
            <a:ext cx="2441567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  <a:t>ISIS </a:t>
            </a:r>
            <a:b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  <a:t>Area 49.0013</a:t>
            </a:r>
            <a:endParaRPr kumimoji="0" lang="ko-KR" altLang="en-US" sz="2800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타원 53"/>
          <p:cNvSpPr/>
          <p:nvPr/>
        </p:nvSpPr>
        <p:spPr bwMode="auto">
          <a:xfrm>
            <a:off x="4716016" y="1412776"/>
            <a:ext cx="4248472" cy="3941862"/>
          </a:xfrm>
          <a:prstGeom prst="ellipse">
            <a:avLst/>
          </a:prstGeom>
          <a:noFill/>
          <a:ln cmpd="sng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sp>
        <p:nvSpPr>
          <p:cNvPr id="55" name="TextBox 190"/>
          <p:cNvSpPr txBox="1">
            <a:spLocks noChangeArrowheads="1"/>
          </p:cNvSpPr>
          <p:nvPr/>
        </p:nvSpPr>
        <p:spPr bwMode="auto">
          <a:xfrm>
            <a:off x="5580112" y="1772816"/>
            <a:ext cx="2441567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  <a:t>ISIS </a:t>
            </a:r>
            <a:br>
              <a:rPr kumimoji="0" lang="en-US" altLang="ko-KR" sz="2800" b="1" u="sng" dirty="0">
                <a:latin typeface="맑은 고딕" pitchFamily="50" charset="-127"/>
                <a:ea typeface="맑은 고딕" pitchFamily="50" charset="-127"/>
              </a:rPr>
            </a:br>
            <a:r>
              <a:rPr kumimoji="0" lang="en-US" altLang="ko-KR" sz="2800" b="1" u="sng">
                <a:latin typeface="맑은 고딕" pitchFamily="50" charset="-127"/>
                <a:ea typeface="맑은 고딕" pitchFamily="50" charset="-127"/>
              </a:rPr>
              <a:t>Area 49.0046</a:t>
            </a:r>
            <a:endParaRPr kumimoji="0" lang="ko-KR" altLang="en-US" sz="2800" b="1" u="sng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직사각형 339"/>
          <p:cNvSpPr>
            <a:spLocks noChangeArrowheads="1"/>
          </p:cNvSpPr>
          <p:nvPr/>
        </p:nvSpPr>
        <p:spPr bwMode="auto">
          <a:xfrm>
            <a:off x="3660602" y="4437112"/>
            <a:ext cx="6030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[L2]</a:t>
            </a:r>
            <a:endParaRPr kumimoji="0" lang="ko-KR" altLang="en-US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직사각형 339"/>
          <p:cNvSpPr>
            <a:spLocks noChangeArrowheads="1"/>
          </p:cNvSpPr>
          <p:nvPr/>
        </p:nvSpPr>
        <p:spPr bwMode="auto">
          <a:xfrm>
            <a:off x="4899727" y="4437112"/>
            <a:ext cx="95571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[L1/L2]</a:t>
            </a:r>
            <a:endParaRPr kumimoji="0" lang="ko-KR" altLang="en-US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직사각형 339"/>
          <p:cNvSpPr>
            <a:spLocks noChangeArrowheads="1"/>
          </p:cNvSpPr>
          <p:nvPr/>
        </p:nvSpPr>
        <p:spPr bwMode="auto">
          <a:xfrm>
            <a:off x="6548531" y="4437112"/>
            <a:ext cx="603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[L1]</a:t>
            </a:r>
            <a:endParaRPr kumimoji="0" lang="ko-KR" altLang="en-US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9" name="직사각형 339"/>
          <p:cNvSpPr>
            <a:spLocks noChangeArrowheads="1"/>
          </p:cNvSpPr>
          <p:nvPr/>
        </p:nvSpPr>
        <p:spPr bwMode="auto">
          <a:xfrm>
            <a:off x="8073407" y="4427820"/>
            <a:ext cx="603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[L1]</a:t>
            </a:r>
            <a:endParaRPr kumimoji="0" lang="ko-KR" altLang="en-US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직사각형 339"/>
          <p:cNvSpPr>
            <a:spLocks noChangeArrowheads="1"/>
          </p:cNvSpPr>
          <p:nvPr/>
        </p:nvSpPr>
        <p:spPr bwMode="auto">
          <a:xfrm>
            <a:off x="1979712" y="4509120"/>
            <a:ext cx="95571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[L1/L2]</a:t>
            </a:r>
            <a:endParaRPr kumimoji="0" lang="ko-KR" altLang="en-US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" name="직사각형 339"/>
          <p:cNvSpPr>
            <a:spLocks noChangeArrowheads="1"/>
          </p:cNvSpPr>
          <p:nvPr/>
        </p:nvSpPr>
        <p:spPr bwMode="auto">
          <a:xfrm>
            <a:off x="539552" y="4509120"/>
            <a:ext cx="60304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[L1]</a:t>
            </a:r>
            <a:endParaRPr kumimoji="0" lang="ko-KR" altLang="en-US" b="1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직사각형 339"/>
          <p:cNvSpPr>
            <a:spLocks noChangeArrowheads="1"/>
          </p:cNvSpPr>
          <p:nvPr/>
        </p:nvSpPr>
        <p:spPr bwMode="auto">
          <a:xfrm>
            <a:off x="4075929" y="3861048"/>
            <a:ext cx="108375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[Type 2]</a:t>
            </a:r>
            <a:endParaRPr kumimoji="0" lang="ko-KR" altLang="en-US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직사각형 339"/>
          <p:cNvSpPr>
            <a:spLocks noChangeArrowheads="1"/>
          </p:cNvSpPr>
          <p:nvPr/>
        </p:nvSpPr>
        <p:spPr bwMode="auto">
          <a:xfrm>
            <a:off x="2555776" y="2996952"/>
            <a:ext cx="108375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[Type 2]</a:t>
            </a:r>
            <a:endParaRPr kumimoji="0" lang="ko-KR" altLang="en-US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직사각형 339"/>
          <p:cNvSpPr>
            <a:spLocks noChangeArrowheads="1"/>
          </p:cNvSpPr>
          <p:nvPr/>
        </p:nvSpPr>
        <p:spPr bwMode="auto">
          <a:xfrm>
            <a:off x="1043608" y="3933056"/>
            <a:ext cx="108375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[Type 1]</a:t>
            </a:r>
            <a:endParaRPr kumimoji="0" lang="ko-KR" altLang="en-US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직사각형 339"/>
          <p:cNvSpPr>
            <a:spLocks noChangeArrowheads="1"/>
          </p:cNvSpPr>
          <p:nvPr/>
        </p:nvSpPr>
        <p:spPr bwMode="auto">
          <a:xfrm>
            <a:off x="5504465" y="2996952"/>
            <a:ext cx="108375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[Type 1]</a:t>
            </a:r>
            <a:endParaRPr kumimoji="0" lang="ko-KR" altLang="en-US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ISIS. Multi-Area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 err="1"/>
              <a:t>라우터</a:t>
            </a:r>
            <a:r>
              <a:rPr lang="ko-KR" altLang="en-US" dirty="0"/>
              <a:t> 타입</a:t>
            </a:r>
            <a:endParaRPr lang="en-US" altLang="ko-KR" dirty="0"/>
          </a:p>
          <a:p>
            <a:pPr lvl="1"/>
            <a:r>
              <a:rPr lang="en-US" altLang="ko-KR" dirty="0"/>
              <a:t>R1: L1</a:t>
            </a:r>
          </a:p>
          <a:p>
            <a:pPr lvl="1"/>
            <a:r>
              <a:rPr lang="en-US" altLang="ko-KR" dirty="0"/>
              <a:t>R2: L1/L2</a:t>
            </a:r>
          </a:p>
          <a:p>
            <a:pPr lvl="1"/>
            <a:r>
              <a:rPr lang="en-US" altLang="ko-KR" dirty="0"/>
              <a:t>R3: L2</a:t>
            </a:r>
          </a:p>
          <a:p>
            <a:pPr lvl="1"/>
            <a:r>
              <a:rPr lang="en-US" altLang="ko-KR" dirty="0"/>
              <a:t>R4: L1/L2</a:t>
            </a:r>
          </a:p>
          <a:p>
            <a:pPr lvl="1"/>
            <a:r>
              <a:rPr lang="en-US" altLang="ko-KR" dirty="0"/>
              <a:t>R5: L1</a:t>
            </a:r>
          </a:p>
          <a:p>
            <a:pPr lvl="1"/>
            <a:r>
              <a:rPr lang="en-US" altLang="ko-KR" dirty="0"/>
              <a:t>R6</a:t>
            </a:r>
            <a:r>
              <a:rPr lang="en-US" altLang="ko-KR"/>
              <a:t>: L1</a:t>
            </a:r>
            <a:endParaRPr lang="ko-KR" alt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인터페이스 타입</a:t>
            </a:r>
            <a:endParaRPr lang="en-US" altLang="ko-KR" dirty="0"/>
          </a:p>
          <a:p>
            <a:pPr lvl="1"/>
            <a:r>
              <a:rPr lang="en-US" altLang="ko-KR" dirty="0"/>
              <a:t>R2</a:t>
            </a:r>
          </a:p>
          <a:p>
            <a:pPr lvl="2"/>
            <a:r>
              <a:rPr lang="en-US" altLang="ko-KR" dirty="0" err="1"/>
              <a:t>Int</a:t>
            </a:r>
            <a:r>
              <a:rPr lang="en-US" altLang="ko-KR" dirty="0"/>
              <a:t> f0/0: L1</a:t>
            </a:r>
          </a:p>
          <a:p>
            <a:pPr lvl="2"/>
            <a:r>
              <a:rPr lang="en-US" altLang="ko-KR" dirty="0" err="1"/>
              <a:t>Int</a:t>
            </a:r>
            <a:r>
              <a:rPr lang="en-US" altLang="ko-KR" dirty="0"/>
              <a:t> s0/0: L2</a:t>
            </a:r>
          </a:p>
          <a:p>
            <a:pPr lvl="1"/>
            <a:r>
              <a:rPr lang="en-US" altLang="ko-KR" dirty="0"/>
              <a:t>R4</a:t>
            </a:r>
          </a:p>
          <a:p>
            <a:pPr lvl="2"/>
            <a:r>
              <a:rPr lang="en-US" altLang="ko-KR" dirty="0" err="1"/>
              <a:t>Int</a:t>
            </a:r>
            <a:r>
              <a:rPr lang="en-US" altLang="ko-KR" dirty="0"/>
              <a:t> f0/1: L2</a:t>
            </a:r>
          </a:p>
          <a:p>
            <a:pPr lvl="2"/>
            <a:r>
              <a:rPr lang="en-US" altLang="ko-KR" dirty="0" err="1"/>
              <a:t>Int</a:t>
            </a:r>
            <a:r>
              <a:rPr lang="en-US" altLang="ko-KR"/>
              <a:t> s0/0: </a:t>
            </a:r>
            <a:r>
              <a:rPr lang="en-US" altLang="ko-KR" dirty="0"/>
              <a:t>L1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106</Words>
  <Application>Microsoft Office PowerPoint</Application>
  <PresentationFormat>화면 슬라이드 쇼(4:3)</PresentationFormat>
  <Paragraphs>44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ISIS. Multi-Area</vt:lpstr>
      <vt:lpstr>ISIS. Multi-Area</vt:lpstr>
    </vt:vector>
  </TitlesOfParts>
  <Company>ITWill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FR1. F/R 실습(Ping Test)</dc:title>
  <dc:creator>IT154-01</dc:creator>
  <cp:lastModifiedBy>DWIT</cp:lastModifiedBy>
  <cp:revision>32</cp:revision>
  <dcterms:created xsi:type="dcterms:W3CDTF">2012-02-25T07:17:08Z</dcterms:created>
  <dcterms:modified xsi:type="dcterms:W3CDTF">2025-03-10T23:57:44Z</dcterms:modified>
</cp:coreProperties>
</file>